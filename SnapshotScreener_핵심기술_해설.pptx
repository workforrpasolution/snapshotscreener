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SnapshotScreener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기술 해설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2286000" cy="27432"/>
          </a:xfrm>
          <a:prstGeom prst="rect">
            <a:avLst/>
          </a:prstGeom>
          <a:solidFill>
            <a:srgbClr val="4E8CF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 · DBSCAN · LCS · Jaccard · CV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이 기술들이 필요한가? 비주얼로 이해하기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2026.03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우리가 풀어야 할 문제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474720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3,000만+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 스크린샷 수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(3,000장/장비 × 10,000대)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463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474720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88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20~30장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장비당 필요한 대표 프레임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(99.9% 축소 목표)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7680960" cy="1645920"/>
          </a:xfrm>
          <a:prstGeom prst="rect">
            <a:avLst/>
          </a:prstGeom>
          <a:solidFill>
            <a:srgbClr val="16182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918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엄청난 축소를 "사람이 하나하나 보지 않고" 자동으로 해내려면,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이미지의 유사성을 판별하고, 클릭 패턴을 분석하고, 작업 흐름을 비교하는 알고리즘이 필요합니다.
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자료는 SnapshotScreener에 사용되는 각 기술이 "왜 필요하고, 실제로 무슨 일을 하는지"를 시각적으로 설명합니다.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기술 전체 지도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SnapshotScreener는 6가지 핵심 기술을 조합하여 동작합니다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377440" cy="16002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54864" cy="1600200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 지문 생성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"같은 화면인가?"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slide 4~6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2377440" cy="16002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234440"/>
            <a:ext cx="54864" cy="16002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DBSCAN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클릭 좌표 클러스터링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"어디를 반복 클릭하나?"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2514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slide 7~8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377440" cy="16002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54864" cy="1600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분리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 단위 구분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"언제 업무가 끊겼나?"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514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slide 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2377440" cy="16002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54864" cy="1600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LCS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시퀀스 유사도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"같은 순서로 작업하나?"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389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slide 10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3108960"/>
            <a:ext cx="2377440" cy="16002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3108960"/>
            <a:ext cx="54864" cy="1600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CV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1188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변동계수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"작업량이 일정한가?"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11880" y="4389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slide 11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3108960"/>
            <a:ext cx="2377440" cy="16002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3108960"/>
            <a:ext cx="54864" cy="16002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Jaccard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63640" y="3657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집합 유사도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"설정 바꿔도 결과 같은가?"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4389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0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slide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 (Perceptual Hash)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이미지의 "시각적 지문"을 만드는 기술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16182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비유: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사람의 지문처럼, 모든 이미지에는 고유한 "시각적 지문"이 있습니다.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화면 → 클릭 위치만 다를 뿐 화면 구조 동일 → 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지문이 거의 같다 (거리 작음)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화면 → 레이아웃, 색상, 구조가 다름 → </a:t>
            </a:r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지문이 크게 다르다 (거리 큼)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737360" cy="82296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468880"/>
            <a:ext cx="54864" cy="822960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5146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 스크린샷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1920×1080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5603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834640" y="2468880"/>
            <a:ext cx="1737360" cy="82296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34640" y="2468880"/>
            <a:ext cx="54864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25146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8×8로 축소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흑백 변환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37760" y="2468880"/>
            <a:ext cx="1737360" cy="82296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2468880"/>
            <a:ext cx="54864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5146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DCT 변환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(주파수 분석)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5603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2468880"/>
            <a:ext cx="1737360" cy="82296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0" y="2468880"/>
            <a:ext cx="54864" cy="8229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25146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64비트 해시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(지문 완성)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화면 비교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840480"/>
            <a:ext cx="3657600" cy="1005840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메인 화면 (클릭 A)  vs  메인 화면 (클릭 B)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 거리 = 2  →  같은 화면!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548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화면 비교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3840480"/>
            <a:ext cx="3657600" cy="1005840"/>
          </a:xfrm>
          <a:prstGeom prst="rect">
            <a:avLst/>
          </a:prstGeom>
          <a:solidFill>
            <a:srgbClr val="3D1515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메인 화면  vs  설정 화면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 거리 = 18  →  다른 화면!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 활용 — 화면 그룹핑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연속된 스크린샷을 "같은 화면" 단위로 자동 묶기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777240" cy="594360"/>
          </a:xfrm>
          <a:prstGeom prst="rect">
            <a:avLst/>
          </a:prstGeom>
          <a:solidFill>
            <a:srgbClr val="1A1D2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SG_1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216152" y="1188720"/>
            <a:ext cx="777240" cy="594360"/>
          </a:xfrm>
          <a:prstGeom prst="rect">
            <a:avLst/>
          </a:prstGeom>
          <a:solidFill>
            <a:srgbClr val="1A1D2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16152" y="15544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SG_1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87552" y="1051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d=2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157984" y="1188720"/>
            <a:ext cx="777240" cy="594360"/>
          </a:xfrm>
          <a:prstGeom prst="rect">
            <a:avLst/>
          </a:prstGeom>
          <a:solidFill>
            <a:srgbClr val="1A1D2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57984" y="15544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SG_1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929384" y="1051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d=1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099816" y="1188720"/>
            <a:ext cx="777240" cy="594360"/>
          </a:xfrm>
          <a:prstGeom prst="rect">
            <a:avLst/>
          </a:prstGeom>
          <a:solidFill>
            <a:srgbClr val="1A1D2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9816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입력폼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99816" y="15544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SG_2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871216" y="1051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d=14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962656" y="13258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41648" y="1188720"/>
            <a:ext cx="777240" cy="594360"/>
          </a:xfrm>
          <a:prstGeom prst="rect">
            <a:avLst/>
          </a:prstGeom>
          <a:solidFill>
            <a:srgbClr val="1A1D2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입력폼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41648" y="15544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SG_2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13048" y="1051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d=3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983480" y="1188720"/>
            <a:ext cx="777240" cy="594360"/>
          </a:xfrm>
          <a:prstGeom prst="rect">
            <a:avLst/>
          </a:prstGeom>
          <a:solidFill>
            <a:srgbClr val="1A1D2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83480" y="15544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SG_3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54880" y="1051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d=18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46320" y="13258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25312" y="1188720"/>
            <a:ext cx="777240" cy="594360"/>
          </a:xfrm>
          <a:prstGeom prst="rect">
            <a:avLst/>
          </a:prstGeom>
          <a:solidFill>
            <a:srgbClr val="1A1D2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25312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25312" y="15544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SG_4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696712" y="1051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d=20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788152" y="13258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67144" y="1188720"/>
            <a:ext cx="777240" cy="594360"/>
          </a:xfrm>
          <a:prstGeom prst="rect">
            <a:avLst/>
          </a:prstGeom>
          <a:solidFill>
            <a:srgbClr val="1A1D2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67144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67144" y="15544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SG_4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638544" y="1051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d=2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808976" y="1188720"/>
            <a:ext cx="777240" cy="594360"/>
          </a:xfrm>
          <a:prstGeom prst="rect">
            <a:avLst/>
          </a:prstGeom>
          <a:solidFill>
            <a:srgbClr val="1A1D2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08976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이력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08976" y="15544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SG_4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580376" y="10515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d=1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9장의 스크린샷 → 4개 화면 그룹으로 압축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2468880"/>
            <a:ext cx="1920240" cy="640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SG_1: 메인 화면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3장 → 대표 1장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60320" y="2468880"/>
            <a:ext cx="1920240" cy="640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560320" y="2468880"/>
            <a:ext cx="54864" cy="6400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SG_2: 입력 폼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74320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2장 → 대표 1장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63440" y="2468880"/>
            <a:ext cx="1920240" cy="640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63440" y="2468880"/>
            <a:ext cx="54864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4" name="Text 52"/>
          <p:cNvSpPr/>
          <p:nvPr/>
        </p:nvSpPr>
        <p:spPr>
          <a:xfrm>
            <a:off x="484632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SG_3: 확인 다이얼로그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4632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1장 → 대표 1장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766560" y="2468880"/>
            <a:ext cx="1920240" cy="640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766560" y="2468880"/>
            <a:ext cx="5486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8" name="Text 56"/>
          <p:cNvSpPr/>
          <p:nvPr/>
        </p:nvSpPr>
        <p:spPr>
          <a:xfrm>
            <a:off x="694944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SG_4: 이력 테이블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94944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3장 → 대표 1장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97280" y="3383280"/>
            <a:ext cx="6949440" cy="1463040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61" name="Text 59"/>
          <p:cNvSpPr/>
          <p:nvPr/>
        </p:nvSpPr>
        <p:spPr>
          <a:xfrm>
            <a:off x="1097280" y="3474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가치: 데이터 축소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1097280" y="38404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 3,000장 × 14일 = 42,000장의 스크린샷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대표 프레임 20~30장으로 축소 (99.9% 감소)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 — 왜 중요한가?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32918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3657600" cy="411480"/>
          </a:xfrm>
          <a:prstGeom prst="rect">
            <a:avLst/>
          </a:prstGeom>
          <a:solidFill>
            <a:srgbClr val="3D151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 없이 한다면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사람이 3,000장을 하나하나 열어서
   "이 화면 본 적 있나?" 확인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파일 이름만으로는 어떤 화면인지
   전혀 알 수 없음 (숫자만 있는 fname)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화면이 같은지 다른지 판단하려면
   결국 이미지를 직접 봐야 함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장비 1대 분석에 수 시간 소요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657600" cy="32918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657600" cy="411480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pHash를 쓰면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모든 이미지를 64비트 숫자로 변환
   (8바이트로 화면 특징 요약)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숫자 간 "거리"를 계산하면
   화면이 같은지 다른지 즉시 판별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컴퓨터가 자동으로 3,000장을
   20개 화면 그룹으로 분류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장비 1대 분석에 수 분 소요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pHash는 SnapshotScreener의 가장 기본적인 빌딩 블록입니다. 이것 없이는 화면 분류 자체가 불가능합니다.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DBSCAN 클러스터링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"가까이 모인 클릭들을 자동으로 그룹 짓는" 알고리즘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1E22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장비 UI 화면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1828800"/>
            <a:ext cx="109728" cy="109728"/>
          </a:xfrm>
          <a:prstGeom prst="ellipse">
            <a:avLst/>
          </a:prstGeom>
          <a:solidFill>
            <a:srgbClr val="4E8CFF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920240"/>
            <a:ext cx="109728" cy="109728"/>
          </a:xfrm>
          <a:prstGeom prst="ellipse">
            <a:avLst/>
          </a:prstGeom>
          <a:solidFill>
            <a:srgbClr val="4E8CFF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011680"/>
            <a:ext cx="109728" cy="109728"/>
          </a:xfrm>
          <a:prstGeom prst="ellipse">
            <a:avLst/>
          </a:prstGeom>
          <a:solidFill>
            <a:srgbClr val="4E8CFF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1828800"/>
            <a:ext cx="109728" cy="109728"/>
          </a:xfrm>
          <a:prstGeom prst="ellipse">
            <a:avLst/>
          </a:prstGeom>
          <a:solidFill>
            <a:srgbClr val="4E8CFF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2103120"/>
            <a:ext cx="109728" cy="109728"/>
          </a:xfrm>
          <a:prstGeom prst="ellipse">
            <a:avLst/>
          </a:prstGeom>
          <a:solidFill>
            <a:srgbClr val="4E8C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965960"/>
            <a:ext cx="109728" cy="109728"/>
          </a:xfrm>
          <a:prstGeom prst="ellipse">
            <a:avLst/>
          </a:prstGeom>
          <a:solidFill>
            <a:srgbClr val="4E8C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1783080"/>
            <a:ext cx="109728" cy="109728"/>
          </a:xfrm>
          <a:prstGeom prst="ellipse">
            <a:avLst/>
          </a:prstGeom>
          <a:solidFill>
            <a:srgbClr val="4E8C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1691640"/>
            <a:ext cx="822960" cy="594360"/>
          </a:xfrm>
          <a:prstGeom prst="ellipse">
            <a:avLst/>
          </a:prstGeom>
          <a:solidFill>
            <a:srgbClr val="4E8CFF">
              <a:alpha val="10000"/>
            </a:srgbClr>
          </a:solidFill>
          <a:ln w="12700">
            <a:solidFill>
              <a:srgbClr val="4E8CF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22960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클러스터 A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 영역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0" y="283464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292608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Shape 16"/>
          <p:cNvSpPr/>
          <p:nvPr/>
        </p:nvSpPr>
        <p:spPr>
          <a:xfrm>
            <a:off x="2468880" y="30175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Shape 17"/>
          <p:cNvSpPr/>
          <p:nvPr/>
        </p:nvSpPr>
        <p:spPr>
          <a:xfrm>
            <a:off x="2834640" y="274320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Shape 18"/>
          <p:cNvSpPr/>
          <p:nvPr/>
        </p:nvSpPr>
        <p:spPr>
          <a:xfrm>
            <a:off x="2651760" y="306324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Shape 19"/>
          <p:cNvSpPr/>
          <p:nvPr/>
        </p:nvSpPr>
        <p:spPr>
          <a:xfrm>
            <a:off x="2880360" y="288036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288036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Shape 21"/>
          <p:cNvSpPr/>
          <p:nvPr/>
        </p:nvSpPr>
        <p:spPr>
          <a:xfrm>
            <a:off x="2697480" y="269748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Shape 22"/>
          <p:cNvSpPr/>
          <p:nvPr/>
        </p:nvSpPr>
        <p:spPr>
          <a:xfrm>
            <a:off x="2331720" y="2606040"/>
            <a:ext cx="777240" cy="640080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34D399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28600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클러스터 B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폼 영역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83280" y="384048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3520440" y="374904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3337560" y="393192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9" name="Shape 27"/>
          <p:cNvSpPr/>
          <p:nvPr/>
        </p:nvSpPr>
        <p:spPr>
          <a:xfrm>
            <a:off x="3566160" y="388620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0" name="Shape 28"/>
          <p:cNvSpPr/>
          <p:nvPr/>
        </p:nvSpPr>
        <p:spPr>
          <a:xfrm>
            <a:off x="3474720" y="397764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0" y="3657600"/>
            <a:ext cx="594360" cy="502920"/>
          </a:xfrm>
          <a:prstGeom prst="ellipse">
            <a:avLst/>
          </a:prstGeom>
          <a:solidFill>
            <a:srgbClr val="FBBF24">
              <a:alpha val="10000"/>
            </a:srgbClr>
          </a:solidFill>
          <a:ln w="12700">
            <a:solidFill>
              <a:srgbClr val="FBBF24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154680" y="4114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클러스터 C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버튼 영역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0" y="3657600"/>
            <a:ext cx="82296" cy="82296"/>
          </a:xfrm>
          <a:prstGeom prst="ellipse">
            <a:avLst/>
          </a:prstGeom>
          <a:solidFill>
            <a:srgbClr val="F87171">
              <a:alpha val="7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0" y="1737360"/>
            <a:ext cx="82296" cy="82296"/>
          </a:xfrm>
          <a:prstGeom prst="ellipse">
            <a:avLst/>
          </a:prstGeom>
          <a:solidFill>
            <a:srgbClr val="F87171">
              <a:alpha val="7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840480" y="2743200"/>
            <a:ext cx="82296" cy="82296"/>
          </a:xfrm>
          <a:prstGeom prst="ellipse">
            <a:avLst/>
          </a:prstGeom>
          <a:solidFill>
            <a:srgbClr val="F87171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0" y="1600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노이즈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618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DBSCAN이 하는 일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029200" y="1874520"/>
            <a:ext cx="137160" cy="137160"/>
          </a:xfrm>
          <a:prstGeom prst="ellipse">
            <a:avLst/>
          </a:prstGeom>
          <a:solidFill>
            <a:srgbClr val="4E8CFF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가까이 모인 점들을 하나의 그룹으로 묶음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0" y="2240280"/>
            <a:ext cx="137160" cy="13716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외따로 떨어진 점은 "노이즈"로 분류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0" y="2606040"/>
            <a:ext cx="137160" cy="1371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그룹 개수를 미리 지정할 필요 없음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0" y="3017520"/>
            <a:ext cx="3383280" cy="0"/>
          </a:xfrm>
          <a:prstGeom prst="line">
            <a:avLst/>
          </a:prstGeom>
          <a:noFill/>
          <a:ln w="12700">
            <a:solidFill>
              <a:srgbClr val="2A2D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SnapshotScreener에서의 의미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클러스터 = 작업자가 반복 클릭하는 UI 영역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노이즈 = 우발적/일회성 클릭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0" y="39319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집중도 = 클러스터 클릭 수 / 전체 클릭 수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0" y="4160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집중도 높으면 = 반복 패턴 가능성 높음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DBSCAN — 왜 K-Means 대신 DBSCAN?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657600" cy="3657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14400"/>
            <a:ext cx="3657600" cy="411480"/>
          </a:xfrm>
          <a:prstGeom prst="rect">
            <a:avLst/>
          </a:prstGeom>
          <a:solidFill>
            <a:srgbClr val="3D151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K-Means (부적합)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그룹 개수를 미리 지정해야 함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장비마다 클릭 영역 수가 다른데,
   매번 사람이 "몇 개?"를 정해줘야 함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점을 반드시 그룹에 할당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우발적 클릭도 억지로 소속시켜
   분석 결과가 왜곡됨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원형 클러스터만 잘 찾음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UI 버튼이 가로로 길게 배치된 경우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제대로 그룹을 못 만듦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657600" cy="3657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3657600" cy="411480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DBSCAN (적합)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그룹 개수를 자동으로 결정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밀집 영역을 찾아 알아서 그룹 생성
   장비마다 다른 UI에 자동 대응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"노이즈" 개념이 내장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외따로 떨어진 우발적 클릭은
   자동 노이즈 처리 (분석에서 제외)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다양한 형태의 클러스터 발견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가로, 세로, 불규칙 형태의 UI 요소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모두 제대로 클러스터링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DBSCAN은 "데이터를 보고 스스로 판단"하므로, 1만 대의 서로 다른 장비 UI에 자동 대응 가능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분리 (Session Segmentation)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하루치 클릭 데이터를 "작업 단위"로 나누기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0"/>
          </a:xfrm>
          <a:prstGeom prst="line">
            <a:avLst/>
          </a:prstGeom>
          <a:noFill/>
          <a:ln w="25400">
            <a:solidFill>
              <a:srgbClr val="2A2D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0" cy="182880"/>
          </a:xfrm>
          <a:prstGeom prst="line">
            <a:avLst/>
          </a:prstGeom>
          <a:noFill/>
          <a:ln w="25400">
            <a:solidFill>
              <a:srgbClr val="4E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37360"/>
            <a:ext cx="0" cy="182880"/>
          </a:xfrm>
          <a:prstGeom prst="line">
            <a:avLst/>
          </a:prstGeom>
          <a:noFill/>
          <a:ln w="25400">
            <a:solidFill>
              <a:srgbClr val="4E8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737360"/>
            <a:ext cx="0" cy="182880"/>
          </a:xfrm>
          <a:prstGeom prst="line">
            <a:avLst/>
          </a:prstGeom>
          <a:noFill/>
          <a:ln w="25400">
            <a:solidFill>
              <a:srgbClr val="4E8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737360"/>
            <a:ext cx="0" cy="182880"/>
          </a:xfrm>
          <a:prstGeom prst="line">
            <a:avLst/>
          </a:prstGeom>
          <a:noFill/>
          <a:ln w="25400">
            <a:solidFill>
              <a:srgbClr val="4E8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737360"/>
            <a:ext cx="0" cy="182880"/>
          </a:xfrm>
          <a:prstGeom prst="line">
            <a:avLst/>
          </a:prstGeom>
          <a:noFill/>
          <a:ln w="25400">
            <a:solidFill>
              <a:srgbClr val="4E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1737360"/>
            <a:ext cx="0" cy="182880"/>
          </a:xfrm>
          <a:prstGeom prst="line">
            <a:avLst/>
          </a:prstGeom>
          <a:noFill/>
          <a:ln w="25400">
            <a:solidFill>
              <a:srgbClr val="4E8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737360"/>
            <a:ext cx="0" cy="182880"/>
          </a:xfrm>
          <a:prstGeom prst="line">
            <a:avLst/>
          </a:prstGeom>
          <a:noFill/>
          <a:ln w="25400">
            <a:solidFill>
              <a:srgbClr val="4E8C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1737360"/>
            <a:ext cx="0" cy="182880"/>
          </a:xfrm>
          <a:prstGeom prst="line">
            <a:avLst/>
          </a:prstGeom>
          <a:noFill/>
          <a:ln w="25400">
            <a:solidFill>
              <a:srgbClr val="4E8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1737360"/>
            <a:ext cx="0" cy="182880"/>
          </a:xfrm>
          <a:prstGeom prst="line">
            <a:avLst/>
          </a:prstGeom>
          <a:noFill/>
          <a:ln w="25400">
            <a:solidFill>
              <a:srgbClr val="4E8C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1737360"/>
            <a:ext cx="0" cy="182880"/>
          </a:xfrm>
          <a:prstGeom prst="line">
            <a:avLst/>
          </a:prstGeom>
          <a:noFill/>
          <a:ln w="25400">
            <a:solidFill>
              <a:srgbClr val="4E8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57400"/>
            <a:ext cx="2103120" cy="365760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1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1 (09:00~09:48)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1280160"/>
            <a:ext cx="914400" cy="365760"/>
          </a:xfrm>
          <a:prstGeom prst="rect">
            <a:avLst/>
          </a:prstGeom>
          <a:solidFill>
            <a:srgbClr val="3D1515"/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22분 gap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···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60320" y="2468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&gt; 15분 → 분리!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49040" y="1737360"/>
            <a:ext cx="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0" y="1737360"/>
            <a:ext cx="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1737360"/>
            <a:ext cx="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1737360"/>
            <a:ext cx="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1737360"/>
            <a:ext cx="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737360"/>
            <a:ext cx="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737360"/>
            <a:ext cx="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737360"/>
            <a:ext cx="0" cy="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2057400"/>
            <a:ext cx="1645920" cy="365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1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2 (10:10~10:55)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1280160"/>
            <a:ext cx="914400" cy="365760"/>
          </a:xfrm>
          <a:prstGeom prst="rect">
            <a:avLst/>
          </a:prstGeom>
          <a:solidFill>
            <a:srgbClr val="3D1515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45분 gap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···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0" y="1737360"/>
            <a:ext cx="0" cy="18288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1737360"/>
            <a:ext cx="0" cy="18288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1737360"/>
            <a:ext cx="0" cy="18288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0" y="1737360"/>
            <a:ext cx="0" cy="18288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1737360"/>
            <a:ext cx="0" cy="18288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1737360"/>
            <a:ext cx="0" cy="18288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37360"/>
            <a:ext cx="0" cy="18288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2240" y="2057400"/>
            <a:ext cx="1554480" cy="3657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1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3 (11:40~)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2926080"/>
            <a:ext cx="8229600" cy="0"/>
          </a:xfrm>
          <a:prstGeom prst="line">
            <a:avLst/>
          </a:prstGeom>
          <a:noFill/>
          <a:ln w="12700">
            <a:solidFill>
              <a:srgbClr val="2A2D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3063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세션 분리가 필요한가?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31520" y="3474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하루치 스크린샷 3,000장을 시간순 나열하면, 여러 번의 "작업 단위"가 섞여 있음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3794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15분 이상 클릭이 없으면 = 작업자가 자리를 비웠거나, 다른 업무를 한 것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371600" y="4206240"/>
            <a:ext cx="6400800" cy="502920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49" name="Text 47"/>
          <p:cNvSpPr/>
          <p:nvPr/>
        </p:nvSpPr>
        <p:spPr>
          <a:xfrm>
            <a:off x="1371600" y="4251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세션 = 하나의 연속 작업 단위. 패턴 비교의 기본 단위가 됨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LCS (최장 공통 부분수열)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"두 작업 세션이 같은 순서로 진행되었나?"를 측정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A (오전 작업)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280160" cy="502920"/>
          </a:xfrm>
          <a:prstGeom prst="rect">
            <a:avLst/>
          </a:prstGeom>
          <a:solidFill>
            <a:srgbClr val="1A1D2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1508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03120" y="1463040"/>
            <a:ext cx="1280160" cy="502920"/>
          </a:xfrm>
          <a:prstGeom prst="rect">
            <a:avLst/>
          </a:prstGeom>
          <a:solidFill>
            <a:srgbClr val="1A1D2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레시피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508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49040" y="1463040"/>
            <a:ext cx="1280160" cy="502920"/>
          </a:xfrm>
          <a:prstGeom prst="rect">
            <a:avLst/>
          </a:prstGeom>
          <a:solidFill>
            <a:srgbClr val="1A1D2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508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4960" y="1463040"/>
            <a:ext cx="1280160" cy="502920"/>
          </a:xfrm>
          <a:prstGeom prst="rect">
            <a:avLst/>
          </a:prstGeom>
          <a:solidFill>
            <a:srgbClr val="1A1D2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1508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40880" y="1463040"/>
            <a:ext cx="1280160" cy="502920"/>
          </a:xfrm>
          <a:prstGeom prst="rect">
            <a:avLst/>
          </a:prstGeom>
          <a:solidFill>
            <a:srgbClr val="1A1D2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463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B (오후 작업) — "대기" 화면 생략됨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1280160" cy="502920"/>
          </a:xfrm>
          <a:prstGeom prst="rect">
            <a:avLst/>
          </a:prstGeom>
          <a:solidFill>
            <a:srgbClr val="1A1D2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60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26060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103120" y="2560320"/>
            <a:ext cx="1280160" cy="502920"/>
          </a:xfrm>
          <a:prstGeom prst="rect">
            <a:avLst/>
          </a:prstGeom>
          <a:solidFill>
            <a:srgbClr val="1A1D2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2560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레시피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26060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49040" y="2560320"/>
            <a:ext cx="1280160" cy="502920"/>
          </a:xfrm>
          <a:prstGeom prst="rect">
            <a:avLst/>
          </a:prstGeom>
          <a:solidFill>
            <a:srgbClr val="1A1D2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2560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26060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94960" y="2560320"/>
            <a:ext cx="1280160" cy="502920"/>
          </a:xfrm>
          <a:prstGeom prst="rect">
            <a:avLst/>
          </a:prstGeom>
          <a:solidFill>
            <a:srgbClr val="1A1D2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2560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383280"/>
            <a:ext cx="8229600" cy="0"/>
          </a:xfrm>
          <a:prstGeom prst="line">
            <a:avLst/>
          </a:prstGeom>
          <a:noFill/>
          <a:ln w="12700">
            <a:solidFill>
              <a:srgbClr val="2A2D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520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LCS (최장 공통 부분수열) 결과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3886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공통 순서: 메인 → 레시피 → 확인 → 이력 (4개 일치)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71600" y="4251960"/>
            <a:ext cx="6400800" cy="502920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36" name="Text 34"/>
          <p:cNvSpPr/>
          <p:nvPr/>
        </p:nvSpPr>
        <p:spPr>
          <a:xfrm>
            <a:off x="1371600" y="4297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유사도 = LCS(4) / max(5, 4) = 0.80 (높음!)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CV (변동계수, Coefficient of Variation)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"매번 비슷한 양의 작업을 하는가?"를 숫자로 표현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장비 A: CV = 0.15 (일정한 패턴)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05610"/>
            <a:ext cx="411480" cy="1569110"/>
          </a:xfrm>
          <a:prstGeom prst="rect">
            <a:avLst/>
          </a:prstGeom>
          <a:solidFill>
            <a:srgbClr val="34D399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6845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80160" y="1764792"/>
            <a:ext cx="411480" cy="1709928"/>
          </a:xfrm>
          <a:prstGeom prst="rect">
            <a:avLst/>
          </a:prstGeom>
          <a:solidFill>
            <a:srgbClr val="34D399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627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340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80160" y="3520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20240" y="1991106"/>
            <a:ext cx="411480" cy="1483614"/>
          </a:xfrm>
          <a:prstGeom prst="rect">
            <a:avLst/>
          </a:prstGeom>
          <a:solidFill>
            <a:srgbClr val="34D399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185394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295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20240" y="3520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60320" y="1855318"/>
            <a:ext cx="411480" cy="1619402"/>
          </a:xfrm>
          <a:prstGeom prst="rect">
            <a:avLst/>
          </a:prstGeom>
          <a:solidFill>
            <a:srgbClr val="34D399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71815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322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60320" y="3520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1875434"/>
            <a:ext cx="411480" cy="1599286"/>
          </a:xfrm>
          <a:prstGeom prst="rect">
            <a:avLst/>
          </a:prstGeom>
          <a:solidFill>
            <a:srgbClr val="34D399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173827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318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0" y="3520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0" y="1815084"/>
            <a:ext cx="411480" cy="1659636"/>
          </a:xfrm>
          <a:prstGeom prst="rect">
            <a:avLst/>
          </a:prstGeom>
          <a:solidFill>
            <a:srgbClr val="34D399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16779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330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0" y="3520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장비 B: CV = 1.2 (불규칙 패턴)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163824"/>
            <a:ext cx="411480" cy="310896"/>
          </a:xfrm>
          <a:prstGeom prst="rect">
            <a:avLst/>
          </a:prstGeom>
          <a:solidFill>
            <a:srgbClr val="F87171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026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3520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0" y="1572768"/>
            <a:ext cx="411480" cy="1901952"/>
          </a:xfrm>
          <a:prstGeom prst="rect">
            <a:avLst/>
          </a:prstGeom>
          <a:solidFill>
            <a:srgbClr val="F87171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14356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520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0" y="3520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3394253"/>
            <a:ext cx="411480" cy="80467"/>
          </a:xfrm>
          <a:prstGeom prst="rect">
            <a:avLst/>
          </a:prstGeom>
          <a:solidFill>
            <a:srgbClr val="F87171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25709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26480" y="3520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S3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66560" y="1975104"/>
            <a:ext cx="411480" cy="1499616"/>
          </a:xfrm>
          <a:prstGeom prst="rect">
            <a:avLst/>
          </a:prstGeom>
          <a:solidFill>
            <a:srgbClr val="F87171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18379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410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0" y="3520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S4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06640" y="3310128"/>
            <a:ext cx="411480" cy="164592"/>
          </a:xfrm>
          <a:prstGeom prst="rect">
            <a:avLst/>
          </a:prstGeom>
          <a:solidFill>
            <a:srgbClr val="F87171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406640" y="31729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06640" y="3520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46720" y="2194560"/>
            <a:ext cx="411480" cy="1280160"/>
          </a:xfrm>
          <a:prstGeom prst="rect">
            <a:avLst/>
          </a:prstGeom>
          <a:solidFill>
            <a:srgbClr val="F87171">
              <a:alpha val="7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0" y="20574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46720" y="3520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S6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12700">
            <a:solidFill>
              <a:srgbClr val="2A2D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3977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CV = 표준편차 / 평균 (세션별 클릭 수 기준)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5720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CV &lt; 0.3 → 매번 비슷한 작업량 = 반복 업무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CV &gt; 1.0 → 들쑥날쑥 = 비정형 업무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Jaccard 유사도 (파라미터 민감도)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"설정값을 바꿔도 분석 결과가 안정적인가?" 를 검증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A (threshold=4)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743200" cy="1828800"/>
          </a:xfrm>
          <a:prstGeom prst="ellipse">
            <a:avLst/>
          </a:prstGeom>
          <a:solidFill>
            <a:srgbClr val="4E8CFF">
              <a:alpha val="12000"/>
            </a:srgbClr>
          </a:solidFill>
          <a:ln w="25400">
            <a:solidFill>
              <a:srgbClr val="4E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frame_001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frame_005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B (threshold=5)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1417320"/>
            <a:ext cx="2743200" cy="1828800"/>
          </a:xfrm>
          <a:prstGeom prst="ellipse">
            <a:avLst/>
          </a:prstGeom>
          <a:solidFill>
            <a:srgbClr val="34D399">
              <a:alpha val="12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frame_022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frame_025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17373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frame_003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frame_008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frame_012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frame_017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frame_020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교집합: 5개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188720"/>
            <a:ext cx="3200400" cy="1097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Jaccard = 교집합 / 합집합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= 5 / 9 = 0.56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중간 수준 (0.5~0.8)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560320" cy="1188720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Jaccard &gt; 0.8 = 안정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설정을 바꿔도 거의 같은 결과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구조가 명확한 장비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383280"/>
            <a:ext cx="2560320" cy="1188720"/>
          </a:xfrm>
          <a:prstGeom prst="rect">
            <a:avLst/>
          </a:prstGeom>
          <a:solidFill>
            <a:srgbClr val="3D2E0D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Jaccard 0.5~0.8 = 보통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일부 프레임이 달라짐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추가 확인 필요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383280"/>
            <a:ext cx="2560320" cy="1188720"/>
          </a:xfrm>
          <a:prstGeom prst="rect">
            <a:avLst/>
          </a:prstGeom>
          <a:solidFill>
            <a:srgbClr val="3D1515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Jaccard &lt; 0.5 = 불안정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설정에 따라 결과가 크게 변동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구조가 모호한 장비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파이프라인 — 기술들이 어떻게 연결되는가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914400"/>
          </a:xfrm>
          <a:prstGeom prst="rect">
            <a:avLst/>
          </a:prstGeom>
          <a:solidFill>
            <a:srgbClr val="1A1D27"/>
          </a:solidFill>
          <a:ln w="19050">
            <a:solidFill>
              <a:srgbClr val="4E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데이터 수집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fname 파싱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타임스탬프+좌표 추출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94560" y="1097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920240" cy="914400"/>
          </a:xfrm>
          <a:prstGeom prst="rect">
            <a:avLst/>
          </a:prstGeom>
          <a:solidFill>
            <a:srgbClr val="1A1D2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세션 분리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15분 gap 기준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 단위 구분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1097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1920240" cy="914400"/>
          </a:xfrm>
          <a:prstGeom prst="rect">
            <a:avLst/>
          </a:prstGeom>
          <a:solidFill>
            <a:srgbClr val="1A1D2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pHash 계산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 → 지문 생성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유사도 비교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0" y="1097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0" y="914400"/>
            <a:ext cx="1920240" cy="914400"/>
          </a:xfrm>
          <a:prstGeom prst="rect">
            <a:avLst/>
          </a:prstGeom>
          <a:solidFill>
            <a:srgbClr val="1A1D2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 화면 그룹핑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1234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 거리 ≤ 4 → 같은 화면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거리 &gt; 4 → 새 화면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" y="2194560"/>
            <a:ext cx="1920240" cy="914400"/>
          </a:xfrm>
          <a:prstGeom prst="rect">
            <a:avLst/>
          </a:prstGeom>
          <a:solidFill>
            <a:srgbClr val="1A1D27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7. 대표 프레임 선택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화면 그룹의 첫 프레임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시작/종료 포함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94560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←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468880" y="2194560"/>
            <a:ext cx="1920240" cy="914400"/>
          </a:xfrm>
          <a:prstGeom prst="rect">
            <a:avLst/>
          </a:prstGeom>
          <a:solidFill>
            <a:srgbClr val="1A1D2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6. 전이점 검출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전환, 시간 점프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 클러스터 시작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9120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63440" y="2194560"/>
            <a:ext cx="1920240" cy="914400"/>
          </a:xfrm>
          <a:prstGeom prst="rect">
            <a:avLst/>
          </a:prstGeom>
          <a:solidFill>
            <a:srgbClr val="1A1D27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 DBSCAN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클릭 좌표 그룹핑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반복 클릭 영역 식별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74320" y="3474720"/>
            <a:ext cx="4114800" cy="1371600"/>
          </a:xfrm>
          <a:prstGeom prst="rect">
            <a:avLst/>
          </a:prstGeom>
          <a:solidFill>
            <a:srgbClr val="161822"/>
          </a:solidFill>
          <a:ln w="19050">
            <a:solidFill>
              <a:srgbClr val="4E8CF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274320" y="3520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레이어 B: 패턴 스크리닝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1188720" cy="3657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클릭 집중도 (DBSCAN)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783080" y="3886200"/>
            <a:ext cx="1188720" cy="3657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7" name="Text 35"/>
          <p:cNvSpPr/>
          <p:nvPr/>
        </p:nvSpPr>
        <p:spPr>
          <a:xfrm>
            <a:off x="178308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일관성 (CV)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108960" y="3886200"/>
            <a:ext cx="1188720" cy="3657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9" name="Text 37"/>
          <p:cNvSpPr/>
          <p:nvPr/>
        </p:nvSpPr>
        <p:spPr>
          <a:xfrm>
            <a:off x="310896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시퀀스 유사도 (LCS)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종합 판정: 패턴 가능성 높음/중간/낮음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474720"/>
            <a:ext cx="4114800" cy="1371600"/>
          </a:xfrm>
          <a:prstGeom prst="rect">
            <a:avLst/>
          </a:prstGeom>
          <a:solidFill>
            <a:srgbClr val="161822"/>
          </a:solidFill>
          <a:ln w="19050">
            <a:solidFill>
              <a:srgbClr val="FBBF24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754880" y="3520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레이어 C: 파라미터 민감도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37760" y="3886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 threshold를 3, 4, 5, 6으로 바꿔가며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대표 프레임이 얼마나 달라지는지 측정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안정적이면 = 구조 명확, 신뢰도 높음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E6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정리 — 각 기술의 역할 한 줄 요약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43891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960120"/>
            <a:ext cx="54864" cy="438912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9601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96012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스크린샷에 "시각적 지문"을 부여하여, 같은 화면인지 다른 화면인지 자동 판별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490472"/>
            <a:ext cx="7680960" cy="43891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490472"/>
            <a:ext cx="54864" cy="438912"/>
          </a:xfrm>
          <a:prstGeom prst="rect">
            <a:avLst/>
          </a:prstGeom>
          <a:solidFill>
            <a:srgbClr val="4E8CF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904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8C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그룹핑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49047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pHash 거리 기준으로 연속 스크린샷을 "같은 화면 그룹"으로 묶어 데이터 99.9% 축소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020824"/>
            <a:ext cx="7680960" cy="43891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020824"/>
            <a:ext cx="54864" cy="43891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02082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DBSCAN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02082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클릭 좌표에서 "반복적으로 눌리는 영역"을 자동 발견, 우발적 클릭은 노이즈로 처리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551176"/>
            <a:ext cx="7680960" cy="43891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551176"/>
            <a:ext cx="54864" cy="43891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55117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분리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2551176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하루치 데이터를 "작업 단위"로 나누어, 패턴 비교의 기본 단위를 생성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081528"/>
            <a:ext cx="7680960" cy="43891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081528"/>
            <a:ext cx="54864" cy="43891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0815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308152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간 화면 전환 순서를 비교하여 "같은 업무 흐름의 반복"을 정량적으로 측정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611880"/>
            <a:ext cx="7680960" cy="43891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611880"/>
            <a:ext cx="54864" cy="43891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6118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361188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세션별 작업량(클릭 수)의 일관성을 측정하여 반복 업무 가능성을 판단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142232"/>
            <a:ext cx="7680960" cy="438912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4142232"/>
            <a:ext cx="54864" cy="43891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1422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Jaccard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68880" y="414223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파라미터를 바꿔가며 결과 안정성을 검증, 분석의 신뢰도에 등급을 부여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371600" y="4754880"/>
            <a:ext cx="6400800" cy="320040"/>
          </a:xfrm>
          <a:prstGeom prst="rect">
            <a:avLst/>
          </a:prstGeom>
          <a:solidFill>
            <a:srgbClr val="161822"/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기술들은 모두 "사람이 수작업으로 할 일을 컴퓨터가 대신"하기 위한 도구입니다.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SnapshotScreener 핵심 기술 해설</dc:title>
  <dc:subject>PptxGenJS Presentation</dc:subject>
  <dc:creator>SnapshotScreener</dc:creator>
  <cp:lastModifiedBy>SnapshotScreener</cp:lastModifiedBy>
  <cp:revision>1</cp:revision>
  <dcterms:created xsi:type="dcterms:W3CDTF">2026-03-26T06:39:39Z</dcterms:created>
  <dcterms:modified xsi:type="dcterms:W3CDTF">2026-03-26T06:39:39Z</dcterms:modified>
</cp:coreProperties>
</file>